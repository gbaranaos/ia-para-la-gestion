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-365760"/>
            <a:ext cx="5943600" cy="7315200"/>
          </a:xfrm>
          <a:prstGeom prst="roundRect">
            <a:avLst>
              <a:gd name="adj" fmla="val 14000"/>
            </a:avLst>
          </a:prstGeom>
          <a:solidFill>
            <a:srgbClr val="17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37160"/>
            <a:ext cx="2926080" cy="2926080"/>
          </a:xfrm>
          <a:prstGeom prst="ellipse">
            <a:avLst/>
          </a:prstGeom>
          <a:solidFill>
            <a:srgbClr val="E9A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1307592"/>
            <a:ext cx="1737360" cy="1737360"/>
          </a:xfrm>
          <a:prstGeom prst="ellipse">
            <a:avLst/>
          </a:prstGeom>
          <a:solidFill>
            <a:srgbClr val="3AA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61020" y="2948939"/>
            <a:ext cx="1051560" cy="1051560"/>
          </a:xfrm>
          <a:prstGeom prst="ellipse">
            <a:avLst/>
          </a:prstGeom>
          <a:solidFill>
            <a:srgbClr val="3AA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676656"/>
            <a:ext cx="2926080" cy="365760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758952"/>
            <a:ext cx="2834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IA GENERATIVA · VISIÓN ARTIFICIAL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7589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5400" b="1">
                <a:solidFill>
                  <a:srgbClr val="FFFFFF"/>
                </a:solidFill>
                <a:latin typeface="Aptos"/>
              </a:defRPr>
            </a:pPr>
            <a:r>
              <a:t>SolarCheck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32888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000" b="1">
                <a:solidFill>
                  <a:srgbClr val="E9AD42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904487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400" b="0">
                <a:solidFill>
                  <a:srgbClr val="EAF6F2"/>
                </a:solidFill>
                <a:latin typeface="Aptos"/>
              </a:defRPr>
            </a:pPr>
            <a:r>
              <a:t>Clasificación visual de paneles solares</a:t>
            </a:r>
            <a:br/>
            <a:r>
              <a:t>y recomendaciones preventivas con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330952"/>
            <a:ext cx="7863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B9DAD2"/>
                </a:solidFill>
                <a:latin typeface="Aptos"/>
              </a:defRPr>
            </a:pPr>
            <a:r>
              <a:t>CLIP zero-shot vs. EfficientNet-B0  •  Streamlit + Gemini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053328"/>
            <a:ext cx="9966960" cy="22860"/>
          </a:xfrm>
          <a:prstGeom prst="rect">
            <a:avLst/>
          </a:prstGeom>
          <a:solidFill>
            <a:srgbClr val="37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6172200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PROYECTO GRUPAL · UDD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01 ·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¿Qué problema queremos resolver?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Del panel en una fotografía a una decisión preventiva informada.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039112"/>
            <a:ext cx="3502152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2212848"/>
            <a:ext cx="59436" cy="420624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221992"/>
            <a:ext cx="29535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Revisión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770632"/>
            <a:ext cx="2907792" cy="2459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Identificar suciedad y señales evidentes de deterioro puede requerir tiempo y experiencia.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039112"/>
            <a:ext cx="3502152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2212848"/>
            <a:ext cx="59436" cy="420624"/>
          </a:xfrm>
          <a:prstGeom prst="roundRect">
            <a:avLst>
              <a:gd name="adj" fmla="val 14000"/>
            </a:avLst>
          </a:prstGeom>
          <a:solidFill>
            <a:srgbClr val="1F9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221992"/>
            <a:ext cx="29535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Clasificación automática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770632"/>
            <a:ext cx="2907792" cy="2459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El modelo organiza las imágenes en seis condiciones posibles y muestra incertidumbre.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2039112"/>
            <a:ext cx="3493008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6175" y="2212848"/>
            <a:ext cx="59436" cy="420624"/>
          </a:xfrm>
          <a:prstGeom prst="roundRect">
            <a:avLst>
              <a:gd name="adj" fmla="val 14000"/>
            </a:avLst>
          </a:prstGeom>
          <a:solidFill>
            <a:srgbClr val="E9A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221992"/>
            <a:ext cx="2944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Apoyo a decisiones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770632"/>
            <a:ext cx="2898648" cy="2459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Gemini transforma la salida técnica en una recomendación educativa, nunca una orden de reparación.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" y="5760720"/>
            <a:ext cx="10927080" cy="420624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83387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6C67"/>
                </a:solidFill>
                <a:latin typeface="Aptos"/>
              </a:defRPr>
            </a:pPr>
            <a:r>
              <a:t>Objetivo: priorizar inspecciones, no sustituir a profesionales ni certificar seguridad.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02 ·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869 imágenes · 6 clases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Dataset de Kaggle, procedencia indicada: Afroz (pythonafroz). Excluimos “New” (16 fotografías).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2057400"/>
            <a:ext cx="3538728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03704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2E36"/>
                </a:solidFill>
                <a:latin typeface="Aptos"/>
              </a:defRPr>
            </a:pPr>
            <a:r>
              <a:t>Limpio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176272"/>
            <a:ext cx="1014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300" b="1">
                <a:solidFill>
                  <a:srgbClr val="116C67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057400"/>
            <a:ext cx="3538728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203704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2E36"/>
                </a:solidFill>
                <a:latin typeface="Aptos"/>
              </a:defRPr>
            </a:pPr>
            <a:r>
              <a:t>Aves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176272"/>
            <a:ext cx="1014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300" b="1">
                <a:solidFill>
                  <a:srgbClr val="116C67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2057400"/>
            <a:ext cx="3538728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03704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2E36"/>
                </a:solidFill>
                <a:latin typeface="Aptos"/>
              </a:defRPr>
            </a:pPr>
            <a:r>
              <a:t>Polvo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6456" y="2176272"/>
            <a:ext cx="1014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300" b="1">
                <a:solidFill>
                  <a:srgbClr val="116C67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3090672"/>
            <a:ext cx="3538728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23697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2E36"/>
                </a:solidFill>
                <a:latin typeface="Aptos"/>
              </a:defRPr>
            </a:pPr>
            <a:r>
              <a:t>Nieve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209544"/>
            <a:ext cx="1014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300" b="1">
                <a:solidFill>
                  <a:srgbClr val="116C67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090672"/>
            <a:ext cx="3538728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23697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2E36"/>
                </a:solidFill>
                <a:latin typeface="Aptos"/>
              </a:defRPr>
            </a:pPr>
            <a:r>
              <a:t>Daño eléctrico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3209544"/>
            <a:ext cx="1014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300" b="1">
                <a:solidFill>
                  <a:srgbClr val="116C67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0456" y="3090672"/>
            <a:ext cx="3538728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23697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2E36"/>
                </a:solidFill>
                <a:latin typeface="Aptos"/>
              </a:defRPr>
            </a:pPr>
            <a:r>
              <a:t>Daño físico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6456" y="3209544"/>
            <a:ext cx="1014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300" b="1">
                <a:solidFill>
                  <a:srgbClr val="116C67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" y="4498848"/>
            <a:ext cx="3520440" cy="914400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6451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16C67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459943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500" b="1">
                <a:solidFill>
                  <a:srgbClr val="112E36"/>
                </a:solidFill>
                <a:latin typeface="Aptos"/>
              </a:defRPr>
            </a:pPr>
            <a:r>
              <a:t>608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4498848"/>
            <a:ext cx="3520440" cy="914400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8" y="46451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16C67"/>
                </a:solidFill>
                <a:latin typeface="Aptos"/>
              </a:defRPr>
            </a:pPr>
            <a:r>
              <a:t>Validación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459943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500" b="1">
                <a:solidFill>
                  <a:srgbClr val="112E36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57032" y="4498848"/>
            <a:ext cx="3520440" cy="914400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46451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16C67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459943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500" b="1">
                <a:solidFill>
                  <a:srgbClr val="112E36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15000"/>
            <a:ext cx="108082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5E7477"/>
                </a:solidFill>
                <a:latin typeface="Aptos"/>
              </a:defRPr>
            </a:pPr>
            <a:r>
              <a:t>Estratificado 70/15/15 aprox. · Desbalance 69–193 por clase · Licencia no especificada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03 ·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Dos enfoques, mismo conjunto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El modelo principal reutiliza conocimiento aprendido previamente (transfer learning).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920240"/>
            <a:ext cx="5321808" cy="3291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" y="2093976"/>
            <a:ext cx="59436" cy="420624"/>
          </a:xfrm>
          <a:prstGeom prst="roundRect">
            <a:avLst>
              <a:gd name="adj" fmla="val 14000"/>
            </a:avLst>
          </a:prstGeom>
          <a:solidFill>
            <a:srgbClr val="1F9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2103120"/>
            <a:ext cx="4773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CLIP · línea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2651760"/>
            <a:ext cx="4727448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• ViT-B/32 de Hugging Face</a:t>
            </a:r>
            <a:br/>
            <a:r>
              <a:t>• Zero-shot: sin ajuste con estas imágenes</a:t>
            </a:r>
            <a:br/>
            <a:r>
              <a:t>• Compara foto con seis descripciones en inglés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321808" cy="3291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82512" y="2093976"/>
            <a:ext cx="59436" cy="420624"/>
          </a:xfrm>
          <a:prstGeom prst="roundRect">
            <a:avLst>
              <a:gd name="adj" fmla="val 14000"/>
            </a:avLst>
          </a:prstGeom>
          <a:solidFill>
            <a:srgbClr val="E9A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4773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EfficientNet-B0 · elegido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4727448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• Modelo timm preentrenado en ImageNet</a:t>
            </a:r>
            <a:br/>
            <a:r>
              <a:t>• Nueva salida de 6 clases</a:t>
            </a:r>
            <a:br/>
            <a:r>
              <a:t>• 15 épocas + class weights + augmentation</a:t>
            </a:r>
            <a:br/>
            <a:r>
              <a:t>• Mejor época elegida con validación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" y="5623560"/>
            <a:ext cx="10387584" cy="411480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05856"/>
            <a:ext cx="996696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16C67"/>
                </a:solidFill>
                <a:latin typeface="Aptos"/>
              </a:defRPr>
            </a:pPr>
            <a:r>
              <a:t>Prueba final: 131 imágenes reservadas · Accuracy, balanced accuracy, recall y matrices de confusión.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04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EfficientNet-B0 supera a CLIP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CLIP: sesión anterior. EfficientNet: exportación reciente de Colab.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20240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12E3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1874519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5E7477"/>
                </a:solidFill>
                <a:latin typeface="Aptos"/>
              </a:defRPr>
            </a:pPr>
            <a:r>
              <a:t>CLIP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386584"/>
            <a:ext cx="7086600" cy="310896"/>
          </a:xfrm>
          <a:prstGeom prst="roundRect">
            <a:avLst>
              <a:gd name="adj" fmla="val 14000"/>
            </a:avLst>
          </a:prstGeom>
          <a:solidFill>
            <a:srgbClr val="E0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2386584"/>
            <a:ext cx="3408654" cy="310896"/>
          </a:xfrm>
          <a:prstGeom prst="roundRect">
            <a:avLst>
              <a:gd name="adj" fmla="val 14000"/>
            </a:avLst>
          </a:prstGeom>
          <a:solidFill>
            <a:srgbClr val="5E7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35000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5E7477"/>
                </a:solidFill>
                <a:latin typeface="Aptos"/>
              </a:defRPr>
            </a:pPr>
            <a:r>
              <a:t>48.1%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834640"/>
            <a:ext cx="1874519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16C67"/>
                </a:solidFill>
                <a:latin typeface="Aptos"/>
              </a:defRPr>
            </a:pPr>
            <a:r>
              <a:t>EfficientNet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33472" y="2825496"/>
            <a:ext cx="7086600" cy="310896"/>
          </a:xfrm>
          <a:prstGeom prst="roundRect">
            <a:avLst>
              <a:gd name="adj" fmla="val 14000"/>
            </a:avLst>
          </a:prstGeom>
          <a:solidFill>
            <a:srgbClr val="E0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33472" y="2825496"/>
            <a:ext cx="6222034" cy="310896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78892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16C67"/>
                </a:solidFill>
                <a:latin typeface="Aptos"/>
              </a:defRPr>
            </a:pPr>
            <a:r>
              <a:t>87.8%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493008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12E36"/>
                </a:solidFill>
                <a:latin typeface="Aptos"/>
              </a:defRPr>
            </a:pPr>
            <a:r>
              <a:t>Balanced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68496"/>
            <a:ext cx="1874519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5E7477"/>
                </a:solidFill>
                <a:latin typeface="Aptos"/>
              </a:defRPr>
            </a:pPr>
            <a:r>
              <a:t>CLIP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33472" y="3959352"/>
            <a:ext cx="7086600" cy="310896"/>
          </a:xfrm>
          <a:prstGeom prst="roundRect">
            <a:avLst>
              <a:gd name="adj" fmla="val 14000"/>
            </a:avLst>
          </a:prstGeom>
          <a:solidFill>
            <a:srgbClr val="E0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33472" y="3959352"/>
            <a:ext cx="3642512" cy="310896"/>
          </a:xfrm>
          <a:prstGeom prst="roundRect">
            <a:avLst>
              <a:gd name="adj" fmla="val 14000"/>
            </a:avLst>
          </a:prstGeom>
          <a:solidFill>
            <a:srgbClr val="5E7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392277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5E7477"/>
                </a:solidFill>
                <a:latin typeface="Aptos"/>
              </a:defRPr>
            </a:pPr>
            <a:r>
              <a:t>51.4%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407408"/>
            <a:ext cx="1874519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16C67"/>
                </a:solidFill>
                <a:latin typeface="Aptos"/>
              </a:defRPr>
            </a:pPr>
            <a:r>
              <a:t>EfficientNet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4398264"/>
            <a:ext cx="7086600" cy="310896"/>
          </a:xfrm>
          <a:prstGeom prst="roundRect">
            <a:avLst>
              <a:gd name="adj" fmla="val 14000"/>
            </a:avLst>
          </a:prstGeom>
          <a:solidFill>
            <a:srgbClr val="E0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33472" y="4398264"/>
            <a:ext cx="6222034" cy="310896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436168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16C67"/>
                </a:solidFill>
                <a:latin typeface="Aptos"/>
              </a:defRPr>
            </a:pPr>
            <a:r>
              <a:t>87.8%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40096"/>
            <a:ext cx="10607040" cy="667512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477256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16C67"/>
                </a:solidFill>
                <a:latin typeface="Aptos"/>
              </a:defRPr>
            </a:pPr>
            <a:r>
              <a:t>Exportación actual 87,8% · CLIP anterior 48,1% (distintas ejecuciones)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05 · MATRIZ Y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Matriz histórica: ejecución anterior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Matriz y recalls de la ejecución anterior (accuracy 74,0%); no son de los pesos actuales.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06 / 09</a:t>
            </a:r>
          </a:p>
        </p:txBody>
      </p:sp>
      <p:pic>
        <p:nvPicPr>
          <p:cNvPr id="10" name="Picture 9" descr="efficientnet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4572000" cy="39776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03136" y="1965960"/>
            <a:ext cx="4736592" cy="34930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03704"/>
            <a:ext cx="41605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Polvo · ejecución previa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715768"/>
            <a:ext cx="37490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300" b="1">
                <a:solidFill>
                  <a:srgbClr val="C65B4C"/>
                </a:solidFill>
                <a:latin typeface="Aptos"/>
              </a:defRPr>
            </a:pPr>
            <a:r>
              <a:t>5 / 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319272"/>
            <a:ext cx="403250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En la sesión anterior: Dusty confundido con Clean.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133087"/>
            <a:ext cx="411480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6C67"/>
                </a:solidFill>
                <a:latin typeface="Aptos"/>
              </a:defRPr>
            </a:pPr>
            <a:r>
              <a:t>Recall Dusty anterior: 48,3%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636008"/>
            <a:ext cx="4069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C65B4C"/>
                </a:solidFill>
                <a:latin typeface="Aptos"/>
              </a:defRPr>
            </a:pPr>
            <a:r>
              <a:t>Mayor riesgo potencial: omitir un daño eléctrico y retrasar la inspección técnica.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2531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16C67"/>
                </a:solidFill>
                <a:latin typeface="Aptos"/>
              </a:defRPr>
            </a:pPr>
            <a:r>
              <a:t>Prototipo educativo: revisión humana obligatoria.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06 · PROTOTIPO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De la imagen a la recomendación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Stack: Python · Streamlit · timm / PyTorch · Google Gemini.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39696"/>
            <a:ext cx="2660904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68296"/>
            <a:ext cx="557784" cy="475488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478024"/>
            <a:ext cx="356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8"/>
            <a:ext cx="2286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2E36"/>
                </a:solidFill>
                <a:latin typeface="Aptos"/>
              </a:defRPr>
            </a:pPr>
            <a:r>
              <a:t>Subir fotografía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2258568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JPG o 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3464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E9AD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0168" y="2139696"/>
            <a:ext cx="2660904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13048" y="2368296"/>
            <a:ext cx="557784" cy="475488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1" y="2478024"/>
            <a:ext cx="356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2990088"/>
            <a:ext cx="2286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2E36"/>
                </a:solidFill>
                <a:latin typeface="Aptos"/>
              </a:defRPr>
            </a:pPr>
            <a:r>
              <a:t>Clasificación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3447288"/>
            <a:ext cx="2258568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6 probabilidades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83464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E9AD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28816" y="2139696"/>
            <a:ext cx="2660904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11696" y="2368296"/>
            <a:ext cx="557784" cy="475488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2478024"/>
            <a:ext cx="356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2990088"/>
            <a:ext cx="2286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2E36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47288"/>
            <a:ext cx="2258568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Clase + confianza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83464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E9AD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7464" y="2139696"/>
            <a:ext cx="2660904" cy="1965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10344" y="2368296"/>
            <a:ext cx="557784" cy="475488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2478024"/>
            <a:ext cx="356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2990088"/>
            <a:ext cx="22860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2E36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3447288"/>
            <a:ext cx="2258568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Consejo cauteloso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4700016"/>
            <a:ext cx="10661904" cy="941832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4910328"/>
            <a:ext cx="10012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6C67"/>
                </a:solidFill>
                <a:latin typeface="Aptos"/>
              </a:defRPr>
            </a:pPr>
            <a:r>
              <a:t>La foto NO se envía a Gemini. La clave está en Secrets, fuera de GitHub.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925312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E7477"/>
                </a:solidFill>
                <a:latin typeface="Aptos"/>
              </a:defRPr>
            </a:pPr>
            <a:r>
              <a:t>Pesos reales incorporados; falta configurar Gemini y probar la app publicada.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07 ·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Código organizado para poder explicar cada 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Separamos entrenamiento, predicción, aplicación y despliegue.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74519"/>
            <a:ext cx="3511296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2048255"/>
            <a:ext cx="59436" cy="420624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057400"/>
            <a:ext cx="29626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01 ·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06039"/>
            <a:ext cx="2916936" cy="2459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Descarga datos, crea splits, compara CLIP y EfficientNet, evalúa en test y exporta el `.pt`.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874519"/>
            <a:ext cx="3511296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2048255"/>
            <a:ext cx="59436" cy="420624"/>
          </a:xfrm>
          <a:prstGeom prst="roundRect">
            <a:avLst>
              <a:gd name="adj" fmla="val 14000"/>
            </a:avLst>
          </a:prstGeom>
          <a:solidFill>
            <a:srgbClr val="1F9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29626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02 · Inferencia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606039"/>
            <a:ext cx="2916936" cy="2459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Carga pesos entrenados, normaliza imagen a 224×224 y calcula softmax de seis salidas.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874519"/>
            <a:ext cx="3502152" cy="3310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2048255"/>
            <a:ext cx="59436" cy="420624"/>
          </a:xfrm>
          <a:prstGeom prst="roundRect">
            <a:avLst>
              <a:gd name="adj" fmla="val 14000"/>
            </a:avLst>
          </a:prstGeom>
          <a:solidFill>
            <a:srgbClr val="E9A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057400"/>
            <a:ext cx="29535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03 · App +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606039"/>
            <a:ext cx="2907792" cy="2459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Streamlit muestra resultados; Gemini recibe texto con política de seguridad y revisión humana.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5532120"/>
            <a:ext cx="10863072" cy="612648"/>
          </a:xfrm>
          <a:prstGeom prst="roundRect">
            <a:avLst>
              <a:gd name="adj" fmla="val 14000"/>
            </a:avLst>
          </a:prstGeom>
          <a:solidFill>
            <a:srgbClr val="E4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687568"/>
            <a:ext cx="10332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6C67"/>
                </a:solidFill>
                <a:latin typeface="Aptos"/>
              </a:defRPr>
            </a:pPr>
            <a:r>
              <a:t>GitHub → Streamlit Community Cloud  |  Pesos reales + GEMINI_API_KEY (Secrets)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7432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16C67"/>
                </a:solidFill>
                <a:latin typeface="Aptos"/>
              </a:defRPr>
            </a:pPr>
            <a:r>
              <a:t>08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94944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12E36"/>
                </a:solidFill>
                <a:latin typeface="Aptos"/>
              </a:defRPr>
            </a:pPr>
            <a:r>
              <a:t>Avances, limitaciones y siguiente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5E7477"/>
                </a:solidFill>
                <a:latin typeface="Aptos"/>
              </a:defRPr>
            </a:pPr>
            <a:r>
              <a:t>Lo importante es que el modelo sea evaluable, útil y responsable.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6459"/>
          </a:xfrm>
          <a:prstGeom prst="rect">
            <a:avLst/>
          </a:prstGeom>
          <a:solidFill>
            <a:srgbClr val="D5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6537960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E7477"/>
                </a:solidFill>
                <a:latin typeface="Aptos"/>
              </a:defRPr>
            </a:pPr>
            <a:r>
              <a:t>SOLARCHECK AI  •  PROYECTO ACADÉMICO · UDD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2881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16C67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01952"/>
            <a:ext cx="5257800" cy="3520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2075688"/>
            <a:ext cx="59436" cy="420624"/>
          </a:xfrm>
          <a:prstGeom prst="roundRect">
            <a:avLst>
              <a:gd name="adj" fmla="val 14000"/>
            </a:avLst>
          </a:prstGeom>
          <a:solidFill>
            <a:srgbClr val="116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084832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Logros medidos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466344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• Seis clases con datos estratificados</a:t>
            </a:r>
            <a:br/>
            <a:r>
              <a:t>• Dos métodos evaluados sobre el mismo test</a:t>
            </a:r>
            <a:br/>
            <a:r>
              <a:t>• 87,8% reportado en última exportación</a:t>
            </a:r>
            <a:br/>
            <a:r>
              <a:t>• Código e interfaz listos para publicar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01952"/>
            <a:ext cx="5257800" cy="3520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2075688"/>
            <a:ext cx="59436" cy="420624"/>
          </a:xfrm>
          <a:prstGeom prst="roundRect">
            <a:avLst>
              <a:gd name="adj" fmla="val 14000"/>
            </a:avLst>
          </a:prstGeom>
          <a:solidFill>
            <a:srgbClr val="E9A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84832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12E36"/>
                </a:solidFill>
                <a:latin typeface="Aptos"/>
              </a:defRPr>
            </a:pPr>
            <a:r>
              <a:t>Pendientes reales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33472"/>
            <a:ext cx="466344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5E7477"/>
                </a:solidFill>
                <a:latin typeface="Aptos"/>
              </a:defRPr>
            </a:pPr>
            <a:r>
              <a:t>• Guardar salidas del notebook de nueva ejecución</a:t>
            </a:r>
            <a:br/>
            <a:r>
              <a:t>• Configurar y verificar clave privada de Gemini</a:t>
            </a:r>
            <a:br/>
            <a:r>
              <a:t>• Probar y publicar enlace público</a:t>
            </a:r>
            <a:br/>
            <a:r>
              <a:t>• Ampliar datos, calibrar y validar en terreno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5779008"/>
            <a:ext cx="10661904" cy="411480"/>
          </a:xfrm>
          <a:prstGeom prst="roundRect">
            <a:avLst>
              <a:gd name="adj" fmla="val 14000"/>
            </a:avLst>
          </a:prstGeom>
          <a:solidFill>
            <a:srgbClr val="DB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5861304"/>
            <a:ext cx="1014984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6C67"/>
                </a:solidFill>
                <a:latin typeface="Aptos"/>
              </a:defRPr>
            </a:pPr>
            <a:r>
              <a:t>IA como apoyo a decisiones; nunca como reemplazo de la seguridad técnica.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